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handoutMasterIdLst>
    <p:handoutMasterId r:id="rId10"/>
  </p:handoutMasterIdLst>
  <p:sldIdLst>
    <p:sldId id="256" r:id="rId2"/>
    <p:sldId id="295" r:id="rId3"/>
    <p:sldId id="290" r:id="rId4"/>
    <p:sldId id="292" r:id="rId5"/>
    <p:sldId id="297" r:id="rId6"/>
    <p:sldId id="293" r:id="rId7"/>
    <p:sldId id="288" r:id="rId8"/>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43A380-F68D-4B97-8CF0-04FACEB71A64}" v="8" dt="2026-02-16T10:00:04.3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106" d="100"/>
          <a:sy n="106" d="100"/>
        </p:scale>
        <p:origin x="102" y="294"/>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E6287060-0277-4BCC-9556-78F4A9113EC4}"/>
    <pc:docChg chg="custSel addSld delSld modSld">
      <pc:chgData name="Christian Camilo Cano Vasquez" userId="8c73a2a4-758b-4e34-81ed-39462e48bd92" providerId="ADAL" clId="{E6287060-0277-4BCC-9556-78F4A9113EC4}" dt="2026-02-16T10:00:04.333" v="112"/>
      <pc:docMkLst>
        <pc:docMk/>
      </pc:docMkLst>
      <pc:sldChg chg="addSp delSp modSp mod">
        <pc:chgData name="Christian Camilo Cano Vasquez" userId="8c73a2a4-758b-4e34-81ed-39462e48bd92" providerId="ADAL" clId="{E6287060-0277-4BCC-9556-78F4A9113EC4}" dt="2026-02-16T09:54:36.314" v="109" actId="20577"/>
        <pc:sldMkLst>
          <pc:docMk/>
          <pc:sldMk cId="730501311" sldId="290"/>
        </pc:sldMkLst>
        <pc:spChg chg="add mod">
          <ac:chgData name="Christian Camilo Cano Vasquez" userId="8c73a2a4-758b-4e34-81ed-39462e48bd92" providerId="ADAL" clId="{E6287060-0277-4BCC-9556-78F4A9113EC4}" dt="2026-02-16T09:48:48.742" v="10" actId="1076"/>
          <ac:spMkLst>
            <pc:docMk/>
            <pc:sldMk cId="730501311" sldId="290"/>
            <ac:spMk id="2" creationId="{029F2FF9-FEB4-7AA3-B3B4-EFA9CFA0E230}"/>
          </ac:spMkLst>
        </pc:spChg>
        <pc:spChg chg="add mod">
          <ac:chgData name="Christian Camilo Cano Vasquez" userId="8c73a2a4-758b-4e34-81ed-39462e48bd92" providerId="ADAL" clId="{E6287060-0277-4BCC-9556-78F4A9113EC4}" dt="2026-02-16T09:49:37.395" v="33" actId="20577"/>
          <ac:spMkLst>
            <pc:docMk/>
            <pc:sldMk cId="730501311" sldId="290"/>
            <ac:spMk id="4" creationId="{C2C94B57-6111-4070-F6BA-8C3B9C305618}"/>
          </ac:spMkLst>
        </pc:spChg>
        <pc:spChg chg="del">
          <ac:chgData name="Christian Camilo Cano Vasquez" userId="8c73a2a4-758b-4e34-81ed-39462e48bd92" providerId="ADAL" clId="{E6287060-0277-4BCC-9556-78F4A9113EC4}" dt="2026-02-16T09:48:32.837" v="5" actId="478"/>
          <ac:spMkLst>
            <pc:docMk/>
            <pc:sldMk cId="730501311" sldId="290"/>
            <ac:spMk id="7" creationId="{F917B3AA-589C-A90A-EE95-EE60C6D04663}"/>
          </ac:spMkLst>
        </pc:spChg>
        <pc:spChg chg="del">
          <ac:chgData name="Christian Camilo Cano Vasquez" userId="8c73a2a4-758b-4e34-81ed-39462e48bd92" providerId="ADAL" clId="{E6287060-0277-4BCC-9556-78F4A9113EC4}" dt="2026-02-16T09:48:32.837" v="5" actId="478"/>
          <ac:spMkLst>
            <pc:docMk/>
            <pc:sldMk cId="730501311" sldId="290"/>
            <ac:spMk id="9" creationId="{793F5757-34AB-6F24-0981-9F1F15A0ADF8}"/>
          </ac:spMkLst>
        </pc:spChg>
        <pc:spChg chg="del">
          <ac:chgData name="Christian Camilo Cano Vasquez" userId="8c73a2a4-758b-4e34-81ed-39462e48bd92" providerId="ADAL" clId="{E6287060-0277-4BCC-9556-78F4A9113EC4}" dt="2026-02-16T09:48:35.096" v="6" actId="478"/>
          <ac:spMkLst>
            <pc:docMk/>
            <pc:sldMk cId="730501311" sldId="290"/>
            <ac:spMk id="11" creationId="{8BD4C233-B5D9-B6AA-93A8-CF2F130CFF9C}"/>
          </ac:spMkLst>
        </pc:spChg>
        <pc:spChg chg="mod">
          <ac:chgData name="Christian Camilo Cano Vasquez" userId="8c73a2a4-758b-4e34-81ed-39462e48bd92" providerId="ADAL" clId="{E6287060-0277-4BCC-9556-78F4A9113EC4}" dt="2026-02-16T09:54:36.314" v="109" actId="20577"/>
          <ac:spMkLst>
            <pc:docMk/>
            <pc:sldMk cId="730501311" sldId="290"/>
            <ac:spMk id="16" creationId="{471E1424-6C4B-2D9A-1352-30AFB987AD41}"/>
          </ac:spMkLst>
        </pc:spChg>
      </pc:sldChg>
      <pc:sldChg chg="modSp add del mod">
        <pc:chgData name="Christian Camilo Cano Vasquez" userId="8c73a2a4-758b-4e34-81ed-39462e48bd92" providerId="ADAL" clId="{E6287060-0277-4BCC-9556-78F4A9113EC4}" dt="2026-02-16T09:54:44.707" v="111" actId="20577"/>
        <pc:sldMkLst>
          <pc:docMk/>
          <pc:sldMk cId="2900117438" sldId="292"/>
        </pc:sldMkLst>
        <pc:spChg chg="mod">
          <ac:chgData name="Christian Camilo Cano Vasquez" userId="8c73a2a4-758b-4e34-81ed-39462e48bd92" providerId="ADAL" clId="{E6287060-0277-4BCC-9556-78F4A9113EC4}" dt="2026-02-16T09:51:39.768" v="80" actId="313"/>
          <ac:spMkLst>
            <pc:docMk/>
            <pc:sldMk cId="2900117438" sldId="292"/>
            <ac:spMk id="2" creationId="{82A62DD6-5488-72A1-9926-0CAEE59089A9}"/>
          </ac:spMkLst>
        </pc:spChg>
        <pc:spChg chg="mod">
          <ac:chgData name="Christian Camilo Cano Vasquez" userId="8c73a2a4-758b-4e34-81ed-39462e48bd92" providerId="ADAL" clId="{E6287060-0277-4BCC-9556-78F4A9113EC4}" dt="2026-02-16T09:54:44.707" v="111" actId="20577"/>
          <ac:spMkLst>
            <pc:docMk/>
            <pc:sldMk cId="2900117438" sldId="292"/>
            <ac:spMk id="16" creationId="{6AA2E789-F7AE-F068-274C-E0F13A22DBCA}"/>
          </ac:spMkLst>
        </pc:spChg>
      </pc:sldChg>
      <pc:sldChg chg="modSp add del mod">
        <pc:chgData name="Christian Camilo Cano Vasquez" userId="8c73a2a4-758b-4e34-81ed-39462e48bd92" providerId="ADAL" clId="{E6287060-0277-4BCC-9556-78F4A9113EC4}" dt="2026-02-16T09:50:51.822" v="37" actId="20577"/>
        <pc:sldMkLst>
          <pc:docMk/>
          <pc:sldMk cId="3660438245" sldId="293"/>
        </pc:sldMkLst>
        <pc:spChg chg="mod">
          <ac:chgData name="Christian Camilo Cano Vasquez" userId="8c73a2a4-758b-4e34-81ed-39462e48bd92" providerId="ADAL" clId="{E6287060-0277-4BCC-9556-78F4A9113EC4}" dt="2026-02-16T09:45:25.127" v="4" actId="115"/>
          <ac:spMkLst>
            <pc:docMk/>
            <pc:sldMk cId="3660438245" sldId="293"/>
            <ac:spMk id="2" creationId="{FDE3A197-9508-F9F1-1FEB-FF883D78C151}"/>
          </ac:spMkLst>
        </pc:spChg>
        <pc:spChg chg="mod">
          <ac:chgData name="Christian Camilo Cano Vasquez" userId="8c73a2a4-758b-4e34-81ed-39462e48bd92" providerId="ADAL" clId="{E6287060-0277-4BCC-9556-78F4A9113EC4}" dt="2026-02-16T09:50:51.822" v="37" actId="20577"/>
          <ac:spMkLst>
            <pc:docMk/>
            <pc:sldMk cId="3660438245" sldId="293"/>
            <ac:spMk id="16" creationId="{742C31CE-19F0-B995-0997-9A2D6A879BF7}"/>
          </ac:spMkLst>
        </pc:spChg>
      </pc:sldChg>
      <pc:sldChg chg="modSp mod">
        <pc:chgData name="Christian Camilo Cano Vasquez" userId="8c73a2a4-758b-4e34-81ed-39462e48bd92" providerId="ADAL" clId="{E6287060-0277-4BCC-9556-78F4A9113EC4}" dt="2026-02-16T10:00:04.333" v="112"/>
        <pc:sldMkLst>
          <pc:docMk/>
          <pc:sldMk cId="473922805" sldId="295"/>
        </pc:sldMkLst>
        <pc:spChg chg="mod">
          <ac:chgData name="Christian Camilo Cano Vasquez" userId="8c73a2a4-758b-4e34-81ed-39462e48bd92" providerId="ADAL" clId="{E6287060-0277-4BCC-9556-78F4A9113EC4}" dt="2026-02-16T10:00:04.333" v="112"/>
          <ac:spMkLst>
            <pc:docMk/>
            <pc:sldMk cId="473922805" sldId="295"/>
            <ac:spMk id="4" creationId="{9F7BC140-B3D8-C3CB-55AD-9064C7CDE9CA}"/>
          </ac:spMkLst>
        </pc:spChg>
      </pc:sldChg>
      <pc:sldChg chg="del">
        <pc:chgData name="Christian Camilo Cano Vasquez" userId="8c73a2a4-758b-4e34-81ed-39462e48bd92" providerId="ADAL" clId="{E6287060-0277-4BCC-9556-78F4A9113EC4}" dt="2026-02-16T09:50:39.931" v="34" actId="47"/>
        <pc:sldMkLst>
          <pc:docMk/>
          <pc:sldMk cId="1245186850" sldId="296"/>
        </pc:sldMkLst>
      </pc:sldChg>
      <pc:sldChg chg="modSp add del">
        <pc:chgData name="Christian Camilo Cano Vasquez" userId="8c73a2a4-758b-4e34-81ed-39462e48bd92" providerId="ADAL" clId="{E6287060-0277-4BCC-9556-78F4A9113EC4}" dt="2026-02-16T09:50:57.288" v="39" actId="20577"/>
        <pc:sldMkLst>
          <pc:docMk/>
          <pc:sldMk cId="236054401" sldId="297"/>
        </pc:sldMkLst>
        <pc:spChg chg="mod">
          <ac:chgData name="Christian Camilo Cano Vasquez" userId="8c73a2a4-758b-4e34-81ed-39462e48bd92" providerId="ADAL" clId="{E6287060-0277-4BCC-9556-78F4A9113EC4}" dt="2026-02-16T09:50:57.288" v="39" actId="20577"/>
          <ac:spMkLst>
            <pc:docMk/>
            <pc:sldMk cId="236054401" sldId="297"/>
            <ac:spMk id="16" creationId="{394400B4-EE16-8E85-AB54-E82FE3B293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08/03/2026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08/03/2026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github.com/cccanvas-upv/pic-upv-lab1"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0.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NUL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s-ES" dirty="0" err="1">
                <a:hlinkClick r:id="rId4"/>
              </a:rPr>
              <a:t>cccanvas-upv</a:t>
            </a:r>
            <a:r>
              <a:rPr lang="es-ES">
                <a:hlinkClick r:id="rId4"/>
              </a:rPr>
              <a:t>/pic-upv-lab1</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Convergence tests</a:t>
            </a:r>
            <a:br>
              <a:rPr lang="en-US" sz="2500" dirty="0"/>
            </a:br>
            <a:r>
              <a:rPr lang="nl-NL" b="0" dirty="0"/>
              <a:t>DE waveguide, w = 1.2 µm, neff_TE0, wvl 1.55 µm. </a:t>
            </a: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6" name="Rectángulo 5">
            <a:extLst>
              <a:ext uri="{FF2B5EF4-FFF2-40B4-BE49-F238E27FC236}">
                <a16:creationId xmlns:a16="http://schemas.microsoft.com/office/drawing/2014/main" id="{067C6D40-33EE-D9BE-7F58-8D96221D0D59}"/>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53A5ECC9-91D2-2918-1681-822F99EB31CD}"/>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neff_TE0 vs </a:t>
            </a:r>
            <a:r>
              <a:rPr lang="en-US" dirty="0" err="1"/>
              <a:t>grid_resolution</a:t>
            </a:r>
            <a:r>
              <a:rPr lang="en-US" dirty="0"/>
              <a:t> plot here</a:t>
            </a:r>
          </a:p>
        </p:txBody>
      </p:sp>
      <p:sp>
        <p:nvSpPr>
          <p:cNvPr id="10" name="CuadroTexto 9">
            <a:extLst>
              <a:ext uri="{FF2B5EF4-FFF2-40B4-BE49-F238E27FC236}">
                <a16:creationId xmlns:a16="http://schemas.microsoft.com/office/drawing/2014/main" id="{C814CDD6-2B59-8488-4EB8-82801B4D3F22}"/>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determine above which grid value the effective index calculation does not change significantly:</a:t>
            </a:r>
          </a:p>
          <a:p>
            <a:pPr algn="just"/>
            <a:r>
              <a:rPr lang="en-US" sz="1200" dirty="0">
                <a:latin typeface="Arial" panose="020B0604020202020204" pitchFamily="34" charset="0"/>
                <a:cs typeface="Arial" panose="020B0604020202020204" pitchFamily="34" charset="0"/>
              </a:rPr>
              <a:t>When plotting the effective index in terms of the grid resolution, the numerical method achieves a stable solution after a grid resolution value of 50. However, for the given conditions (waveguide dimensions and materials) the solution is already correct for a value of 20, reason why we can use this one to demand less resources and increase the method’s efficiency.</a:t>
            </a:r>
          </a:p>
          <a:p>
            <a:pPr algn="just"/>
            <a:r>
              <a:rPr lang="en-US" sz="1200" dirty="0">
                <a:latin typeface="Arial" panose="020B0604020202020204" pitchFamily="34" charset="0"/>
                <a:cs typeface="Arial" panose="020B0604020202020204" pitchFamily="34" charset="0"/>
              </a:rPr>
              <a:t>In the second plot, the effective index is represented in terms of the grid scale parameter for a grid resolution of 20, 50 and 60. Taking the green curve as our most reliable reference, it can be observed that both green and blue curves achieve convergence for a grid scale value of 1’50. Those values will be chosen for the following simulations.</a:t>
            </a:r>
          </a:p>
        </p:txBody>
      </p:sp>
      <p:sp>
        <p:nvSpPr>
          <p:cNvPr id="2" name="Rectángulo 1">
            <a:extLst>
              <a:ext uri="{FF2B5EF4-FFF2-40B4-BE49-F238E27FC236}">
                <a16:creationId xmlns:a16="http://schemas.microsoft.com/office/drawing/2014/main" id="{029F2FF9-FEB4-7AA3-B3B4-EFA9CFA0E230}"/>
              </a:ext>
            </a:extLst>
          </p:cNvPr>
          <p:cNvSpPr/>
          <p:nvPr/>
        </p:nvSpPr>
        <p:spPr>
          <a:xfrm>
            <a:off x="6322853"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C2C94B57-6111-4070-F6BA-8C3B9C305618}"/>
              </a:ext>
            </a:extLst>
          </p:cNvPr>
          <p:cNvSpPr txBox="1"/>
          <p:nvPr/>
        </p:nvSpPr>
        <p:spPr>
          <a:xfrm>
            <a:off x="6792815" y="2698951"/>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neff_TE0 vs </a:t>
            </a:r>
            <a:r>
              <a:rPr lang="en-US" dirty="0" err="1"/>
              <a:t>max_grid_scaling</a:t>
            </a:r>
            <a:r>
              <a:rPr lang="en-US" dirty="0"/>
              <a:t> plot here</a:t>
            </a:r>
          </a:p>
        </p:txBody>
      </p:sp>
      <p:pic>
        <p:nvPicPr>
          <p:cNvPr id="7" name="Picture 6">
            <a:extLst>
              <a:ext uri="{FF2B5EF4-FFF2-40B4-BE49-F238E27FC236}">
                <a16:creationId xmlns:a16="http://schemas.microsoft.com/office/drawing/2014/main" id="{A1DCC193-F037-279F-C336-D09A8382AC93}"/>
              </a:ext>
            </a:extLst>
          </p:cNvPr>
          <p:cNvPicPr>
            <a:picLocks noChangeAspect="1"/>
          </p:cNvPicPr>
          <p:nvPr/>
        </p:nvPicPr>
        <p:blipFill>
          <a:blip r:embed="rId5"/>
          <a:stretch>
            <a:fillRect/>
          </a:stretch>
        </p:blipFill>
        <p:spPr>
          <a:xfrm>
            <a:off x="1320022" y="1465383"/>
            <a:ext cx="4166378" cy="3240516"/>
          </a:xfrm>
          <a:prstGeom prst="rect">
            <a:avLst/>
          </a:prstGeom>
        </p:spPr>
      </p:pic>
      <p:pic>
        <p:nvPicPr>
          <p:cNvPr id="11" name="Picture 10">
            <a:extLst>
              <a:ext uri="{FF2B5EF4-FFF2-40B4-BE49-F238E27FC236}">
                <a16:creationId xmlns:a16="http://schemas.microsoft.com/office/drawing/2014/main" id="{2C138583-2160-C9F7-3192-BA698E0B5DE7}"/>
              </a:ext>
            </a:extLst>
          </p:cNvPr>
          <p:cNvPicPr>
            <a:picLocks noChangeAspect="1"/>
          </p:cNvPicPr>
          <p:nvPr/>
        </p:nvPicPr>
        <p:blipFill>
          <a:blip r:embed="rId6"/>
          <a:stretch>
            <a:fillRect/>
          </a:stretch>
        </p:blipFill>
        <p:spPr>
          <a:xfrm>
            <a:off x="6819406" y="1524000"/>
            <a:ext cx="4520043" cy="3186836"/>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4</a:t>
            </a:fld>
            <a:endParaRPr lang="es-ES" dirty="0"/>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dirty="0"/>
              <a:t>LAB 0.1. MODESOLVER</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00600"/>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(neff changes this way with width, polarization behavior, </a:t>
            </a:r>
            <a:r>
              <a:rPr lang="en-US" sz="1200" b="1" dirty="0" err="1">
                <a:latin typeface="Arial" panose="020B0604020202020204" pitchFamily="34" charset="0"/>
                <a:cs typeface="Arial" panose="020B0604020202020204" pitchFamily="34" charset="0"/>
              </a:rPr>
              <a:t>etc</a:t>
            </a:r>
            <a:r>
              <a:rPr lang="en-US" sz="1200" b="1"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In the graphs above one can find the effective index parameter in terms of the waveguide’s width for the first four modes found by the solver. As shown in the plots, the wider the waveguide, the higher the effective index and, thus, the more modes overpass the cladding’s effective index and can propagate through the waveguide. Modes TE0, TM0 and TE01 propagate during the whole width sweep, whereas mode TM01 starts propagating for a width greater than 1.65 um.</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As a comment about the solver (refer to the right plot), it can be seen how the orange and green curves cross and all of a sudden change their direction. This is an error of the solver, since it orders the modes in terms of their effective index value, which is smaller for the TE01 than the TM0 up until width&lt;2.0 um, but greater for width&gt;2.0 um.</a:t>
            </a: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plot here</a:t>
            </a:r>
          </a:p>
        </p:txBody>
      </p:sp>
      <p:pic>
        <p:nvPicPr>
          <p:cNvPr id="5" name="Picture 4">
            <a:extLst>
              <a:ext uri="{FF2B5EF4-FFF2-40B4-BE49-F238E27FC236}">
                <a16:creationId xmlns:a16="http://schemas.microsoft.com/office/drawing/2014/main" id="{78C6F90A-810B-E34D-90DE-E947C056190C}"/>
              </a:ext>
            </a:extLst>
          </p:cNvPr>
          <p:cNvPicPr>
            <a:picLocks noChangeAspect="1"/>
          </p:cNvPicPr>
          <p:nvPr/>
        </p:nvPicPr>
        <p:blipFill>
          <a:blip r:embed="rId5"/>
          <a:stretch>
            <a:fillRect/>
          </a:stretch>
        </p:blipFill>
        <p:spPr>
          <a:xfrm>
            <a:off x="5791200" y="1676534"/>
            <a:ext cx="5105400" cy="2972072"/>
          </a:xfrm>
          <a:prstGeom prst="rect">
            <a:avLst/>
          </a:prstGeom>
        </p:spPr>
      </p:pic>
      <p:pic>
        <p:nvPicPr>
          <p:cNvPr id="9" name="Picture 8">
            <a:extLst>
              <a:ext uri="{FF2B5EF4-FFF2-40B4-BE49-F238E27FC236}">
                <a16:creationId xmlns:a16="http://schemas.microsoft.com/office/drawing/2014/main" id="{0572FF01-D31F-B910-926A-43C20DB4A41D}"/>
              </a:ext>
            </a:extLst>
          </p:cNvPr>
          <p:cNvPicPr>
            <a:picLocks noChangeAspect="1"/>
          </p:cNvPicPr>
          <p:nvPr/>
        </p:nvPicPr>
        <p:blipFill>
          <a:blip r:embed="rId6"/>
          <a:stretch>
            <a:fillRect/>
          </a:stretch>
        </p:blipFill>
        <p:spPr>
          <a:xfrm>
            <a:off x="862077" y="1674926"/>
            <a:ext cx="4944968" cy="2878678"/>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07125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Waveguide compact model</a:t>
                </a:r>
                <a:br>
                  <a:rPr lang="en-US" sz="2500" spc="-5" dirty="0">
                    <a:latin typeface="+mj-lt"/>
                    <a:cs typeface="Lucida Sans"/>
                  </a:rPr>
                </a:br>
                <a:r>
                  <a:rPr lang="en-US" b="0" dirty="0"/>
                  <a:t>Let’s model the waveguide using a second order polynomial: </a:t>
                </a:r>
                <a:br>
                  <a:rPr lang="en-US" b="0" dirty="0"/>
                </a:b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𝑒𝑓𝑓</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3</m:t>
                          </m:r>
                        </m:sub>
                      </m:sSub>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e>
                        <m:sup>
                          <m:r>
                            <a:rPr lang="es-ES" b="0" i="1" smtClean="0">
                              <a:latin typeface="Cambria Math" panose="02040503050406030204" pitchFamily="18" charset="0"/>
                            </a:rPr>
                            <m:t>2</m:t>
                          </m:r>
                        </m:sup>
                      </m:sSup>
                    </m:oMath>
                  </m:oMathPara>
                </a14:m>
                <a:br>
                  <a:rPr lang="en-US" b="0" dirty="0"/>
                </a:br>
                <a:endParaRPr lang="en-US" sz="2500" b="0" dirty="0">
                  <a:latin typeface="+mj-lt"/>
                  <a:cs typeface="Lucida Sans"/>
                </a:endParaRPr>
              </a:p>
            </p:txBody>
          </p:sp>
        </mc:Choice>
        <mc:Fallback xmlns="">
          <p:sp>
            <p:nvSpPr>
              <p:cNvPr id="16" name="object 16">
                <a:extLst>
                  <a:ext uri="{FF2B5EF4-FFF2-40B4-BE49-F238E27FC236}">
                    <a16:creationId xmlns:a16="http://schemas.microsoft.com/office/drawing/2014/main" id="{394400B4-EE16-8E85-AB54-E82FE3B29345}"/>
                  </a:ext>
                </a:extLst>
              </p:cNvPr>
              <p:cNvSpPr txBox="1">
                <a:spLocks noGrp="1" noRot="1" noChangeAspect="1" noMove="1" noResize="1" noEditPoints="1" noAdjustHandles="1" noChangeArrowheads="1" noChangeShapeType="1" noTextEdit="1"/>
              </p:cNvSpPr>
              <p:nvPr>
                <p:ph type="title"/>
              </p:nvPr>
            </p:nvSpPr>
            <p:spPr>
              <a:xfrm>
                <a:off x="685800" y="408883"/>
                <a:ext cx="10994410" cy="1071255"/>
              </a:xfrm>
              <a:prstGeom prst="rect">
                <a:avLst/>
              </a:prstGeom>
              <a:blipFill>
                <a:blip r:embed="rId3"/>
                <a:stretch>
                  <a:fillRect l="-1664" t="-7386" b="-4545"/>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on the results found for the TE0 and TM0 for both deep and shallow waveguides:</a:t>
            </a:r>
          </a:p>
          <a:p>
            <a:pPr algn="just"/>
            <a:r>
              <a:rPr lang="en-US" sz="1200" dirty="0">
                <a:latin typeface="Arial" panose="020B0604020202020204" pitchFamily="34" charset="0"/>
                <a:cs typeface="Arial" panose="020B0604020202020204" pitchFamily="34" charset="0"/>
              </a:rPr>
              <a:t>The previous charts represent the effective index in terms of wavelength for a deep and a shallow waveguide, fitted with </a:t>
            </a:r>
            <a:r>
              <a:rPr lang="en-US" sz="1200" b="1" dirty="0">
                <a:latin typeface="Arial" panose="020B0604020202020204" pitchFamily="34" charset="0"/>
                <a:cs typeface="Arial" panose="020B0604020202020204" pitchFamily="34" charset="0"/>
              </a:rPr>
              <a:t>np.poly1d </a:t>
            </a:r>
            <a:r>
              <a:rPr lang="en-US" sz="1200" dirty="0">
                <a:latin typeface="Arial" panose="020B0604020202020204" pitchFamily="34" charset="0"/>
                <a:cs typeface="Arial" panose="020B0604020202020204" pitchFamily="34" charset="0"/>
              </a:rPr>
              <a:t>to find the first and second order polynomial coefficients, which define the group index and dispersion parameters of the mode in the waveguide. These values are also shown above the plots.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Both TE0 and TM0 modes propagate during the whole wavelength’s sweep, but it can be observed that the effective index is slightly greater in the shallow waveguide, which indicates that the mode’s optical power is more confined in the waveguide’s core. </a:t>
            </a:r>
          </a:p>
        </p:txBody>
      </p:sp>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C59B6428-4395-242F-54D8-A9FC610F2D7A}"/>
                  </a:ext>
                </a:extLst>
              </p:cNvPr>
              <p:cNvSpPr txBox="1"/>
              <p:nvPr/>
            </p:nvSpPr>
            <p:spPr>
              <a:xfrm>
                <a:off x="609440" y="2709096"/>
                <a:ext cx="5486559" cy="1138773"/>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sz="1600" b="1" dirty="0"/>
                  <a:t>neff_TE0 vs </a:t>
                </a:r>
                <a14:m>
                  <m:oMath xmlns:m="http://schemas.openxmlformats.org/officeDocument/2006/math">
                    <m:r>
                      <a:rPr lang="es-ES" sz="1600" b="1" i="1" smtClean="0">
                        <a:latin typeface="Cambria Math" panose="02040503050406030204" pitchFamily="18" charset="0"/>
                      </a:rPr>
                      <m:t>𝝀</m:t>
                    </m:r>
                  </m:oMath>
                </a14:m>
                <a:r>
                  <a:rPr lang="en-US" sz="1600" b="1" dirty="0"/>
                  <a:t> </a:t>
                </a:r>
                <a:r>
                  <a:rPr lang="en-US" sz="1600" dirty="0"/>
                  <a:t>with the second-degree polynomial fit  </a:t>
                </a:r>
              </a:p>
              <a:p>
                <a:pPr algn="ctr"/>
                <a:r>
                  <a:rPr lang="en-US" sz="1600" dirty="0"/>
                  <a:t>&amp; </a:t>
                </a:r>
                <a:r>
                  <a:rPr lang="en-US" sz="1600" b="1" dirty="0"/>
                  <a:t>neff_TM0 vs </a:t>
                </a:r>
                <a14:m>
                  <m:oMath xmlns:m="http://schemas.openxmlformats.org/officeDocument/2006/math">
                    <m:r>
                      <a:rPr lang="es-ES" sz="1600" b="1" i="1">
                        <a:latin typeface="Cambria Math" panose="02040503050406030204" pitchFamily="18" charset="0"/>
                      </a:rPr>
                      <m:t>𝝀</m:t>
                    </m:r>
                  </m:oMath>
                </a14:m>
                <a:r>
                  <a:rPr lang="en-US" sz="1600" b="1" dirty="0"/>
                  <a:t> </a:t>
                </a:r>
                <a:r>
                  <a:rPr lang="en-US" sz="1600" dirty="0"/>
                  <a:t>with the second-degree polynomial fit </a:t>
                </a:r>
              </a:p>
            </p:txBody>
          </p:sp>
        </mc:Choice>
        <mc:Fallback>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609440" y="2709096"/>
                <a:ext cx="5486559" cy="1138773"/>
              </a:xfrm>
              <a:prstGeom prst="rect">
                <a:avLst/>
              </a:prstGeom>
              <a:blipFill>
                <a:blip r:embed="rId6"/>
                <a:stretch>
                  <a:fillRect t="-2674" b="-5882"/>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9320AF78-1FC6-19F4-8E0B-8A414F20C6DE}"/>
                  </a:ext>
                </a:extLst>
              </p:cNvPr>
              <p:cNvSpPr txBox="1"/>
              <p:nvPr/>
            </p:nvSpPr>
            <p:spPr>
              <a:xfrm>
                <a:off x="6321421" y="2709096"/>
                <a:ext cx="5486559" cy="1138773"/>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sz="1600" b="1" dirty="0"/>
                  <a:t>neff_TE0 vs </a:t>
                </a:r>
                <a14:m>
                  <m:oMath xmlns:m="http://schemas.openxmlformats.org/officeDocument/2006/math">
                    <m:r>
                      <a:rPr lang="es-ES" sz="1600" b="1" i="1">
                        <a:latin typeface="Cambria Math" panose="02040503050406030204" pitchFamily="18" charset="0"/>
                      </a:rPr>
                      <m:t>𝝀</m:t>
                    </m:r>
                  </m:oMath>
                </a14:m>
                <a:r>
                  <a:rPr lang="en-US" sz="1600" b="1" dirty="0"/>
                  <a:t> </a:t>
                </a:r>
                <a:r>
                  <a:rPr lang="en-US" sz="1600" dirty="0"/>
                  <a:t>with the second-degree polynomial fit  </a:t>
                </a:r>
              </a:p>
              <a:p>
                <a:pPr algn="ctr"/>
                <a:r>
                  <a:rPr lang="en-US" sz="1600" dirty="0"/>
                  <a:t>&amp; </a:t>
                </a:r>
                <a:r>
                  <a:rPr lang="en-US" sz="1600" b="1" dirty="0"/>
                  <a:t>neff_TM0 vs </a:t>
                </a:r>
                <a14:m>
                  <m:oMath xmlns:m="http://schemas.openxmlformats.org/officeDocument/2006/math">
                    <m:r>
                      <a:rPr lang="es-ES" sz="1600" b="1" i="1">
                        <a:latin typeface="Cambria Math" panose="02040503050406030204" pitchFamily="18" charset="0"/>
                      </a:rPr>
                      <m:t>𝝀</m:t>
                    </m:r>
                  </m:oMath>
                </a14:m>
                <a:r>
                  <a:rPr lang="en-US" sz="1600" b="1" dirty="0"/>
                  <a:t> </a:t>
                </a:r>
                <a:r>
                  <a:rPr lang="en-US" sz="1600" dirty="0"/>
                  <a:t>with the second-degree polynomial fit </a:t>
                </a:r>
              </a:p>
            </p:txBody>
          </p:sp>
        </mc:Choice>
        <mc:Fallback>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6321421" y="2709096"/>
                <a:ext cx="5486559" cy="1138773"/>
              </a:xfrm>
              <a:prstGeom prst="rect">
                <a:avLst/>
              </a:prstGeom>
              <a:blipFill>
                <a:blip r:embed="rId7"/>
                <a:stretch>
                  <a:fillRect t="-2674" b="-5882"/>
                </a:stretch>
              </a:blipFill>
            </p:spPr>
            <p:txBody>
              <a:bodyPr/>
              <a:lstStyle/>
              <a:p>
                <a:r>
                  <a:rPr lang="en-GB">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4854039"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99CFCAB7-F921-8204-5C14-102941828DEA}"/>
              </a:ext>
            </a:extLst>
          </p:cNvPr>
          <p:cNvPicPr>
            <a:picLocks noChangeAspect="1"/>
          </p:cNvPicPr>
          <p:nvPr/>
        </p:nvPicPr>
        <p:blipFill>
          <a:blip r:embed="rId8"/>
          <a:stretch>
            <a:fillRect/>
          </a:stretch>
        </p:blipFill>
        <p:spPr>
          <a:xfrm>
            <a:off x="931544" y="1532623"/>
            <a:ext cx="4935856" cy="3191777"/>
          </a:xfrm>
          <a:prstGeom prst="rect">
            <a:avLst/>
          </a:prstGeom>
        </p:spPr>
      </p:pic>
      <p:pic>
        <p:nvPicPr>
          <p:cNvPr id="14" name="Picture 13">
            <a:extLst>
              <a:ext uri="{FF2B5EF4-FFF2-40B4-BE49-F238E27FC236}">
                <a16:creationId xmlns:a16="http://schemas.microsoft.com/office/drawing/2014/main" id="{0659BC2D-5026-5F60-672C-E93CD451C157}"/>
              </a:ext>
            </a:extLst>
          </p:cNvPr>
          <p:cNvPicPr>
            <a:picLocks noChangeAspect="1"/>
          </p:cNvPicPr>
          <p:nvPr/>
        </p:nvPicPr>
        <p:blipFill>
          <a:blip r:embed="rId9"/>
          <a:stretch>
            <a:fillRect/>
          </a:stretch>
        </p:blipFill>
        <p:spPr>
          <a:xfrm>
            <a:off x="6515061" y="1506387"/>
            <a:ext cx="4939520" cy="3191778"/>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Bend waveguide radius vs. loss – deep</a:t>
            </a:r>
            <a:br>
              <a:rPr lang="en-US" sz="2500" dirty="0"/>
            </a:br>
            <a:r>
              <a:rPr lang="en-US" b="0" dirty="0"/>
              <a:t>Find  neff_TE0 for </a:t>
            </a:r>
            <a:r>
              <a:rPr lang="en-US" b="0" dirty="0" err="1"/>
              <a:t>wvl</a:t>
            </a:r>
            <a:r>
              <a:rPr lang="en-US" b="0" dirty="0"/>
              <a:t> 1.55 µm, width 1.0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which is the safe radius, consider safe means less than 0.1 dB/90º.</a:t>
            </a:r>
          </a:p>
          <a:p>
            <a:pPr algn="just"/>
            <a:r>
              <a:rPr lang="en-US" sz="1200" dirty="0">
                <a:latin typeface="Arial" panose="020B0604020202020204" pitchFamily="34" charset="0"/>
                <a:cs typeface="Arial" panose="020B0604020202020204" pitchFamily="34" charset="0"/>
              </a:rPr>
              <a:t>As shown in the left graph, the lower the bend radius is, the greater the mode-conversion losses and smaller the propagation losses for a 90º bend are. These results are consistent with the fact that a lower bend radius translates to a more curved bend and therefore a bigger mode-mismatch, but a shorter distance. The safest radius (smaller total losses) </a:t>
            </a:r>
            <a:r>
              <a:rPr lang="en-US" sz="1200">
                <a:latin typeface="Arial" panose="020B0604020202020204" pitchFamily="34" charset="0"/>
                <a:cs typeface="Arial" panose="020B0604020202020204" pitchFamily="34" charset="0"/>
              </a:rPr>
              <a:t>is found to be around 65 um.</a:t>
            </a: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In addition, in the right plot is represented the effective index in terms of the bend radius for the mode TE01. As expected, the simulation shows that the effective index decreases as the bend radius increases, since the bigger the bend radius, the more the optical power of the mode is moved to the external part of the waveguide, and thus greater is the propagation through the cladding, which has a lower refractive index.</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09FBBBB-69CA-B7E5-7176-8227F2788CF5}"/>
                  </a:ext>
                </a:extLst>
              </p:cNvPr>
              <p:cNvSpPr txBox="1"/>
              <p:nvPr/>
            </p:nvSpPr>
            <p:spPr>
              <a:xfrm>
                <a:off x="9941529" y="4179383"/>
                <a:ext cx="1856534" cy="439608"/>
              </a:xfrm>
              <a:prstGeom prst="rect">
                <a:avLst/>
              </a:prstGeom>
              <a:noFill/>
            </p:spPr>
            <p:txBody>
              <a:bodyPr wrap="none" lIns="0" tIns="0" rIns="0" bIns="0" rtlCol="0">
                <a:spAutoFit/>
              </a:bodyPr>
              <a:lstStyle/>
              <a:p>
                <a14:m>
                  <m:oMath xmlns:m="http://schemas.openxmlformats.org/officeDocument/2006/math">
                    <m:r>
                      <a:rPr lang="es-ES" sz="1800" b="0" i="1" smtClean="0">
                        <a:latin typeface="Cambria Math" panose="02040503050406030204" pitchFamily="18" charset="0"/>
                      </a:rPr>
                      <m:t>𝛼</m:t>
                    </m:r>
                    <m:d>
                      <m:dPr>
                        <m:begChr m:val="["/>
                        <m:endChr m:val="]"/>
                        <m:ctrlPr>
                          <a:rPr lang="es-ES" sz="1800" b="0" i="1" smtClean="0">
                            <a:latin typeface="Cambria Math" panose="02040503050406030204" pitchFamily="18" charset="0"/>
                          </a:rPr>
                        </m:ctrlPr>
                      </m:dPr>
                      <m:e>
                        <m:f>
                          <m:fPr>
                            <m:ctrlPr>
                              <a:rPr lang="es-ES" sz="1800" b="0" i="1" smtClean="0">
                                <a:latin typeface="Cambria Math" panose="02040503050406030204" pitchFamily="18" charset="0"/>
                              </a:rPr>
                            </m:ctrlPr>
                          </m:fPr>
                          <m:num>
                            <m:r>
                              <a:rPr lang="es-ES" sz="1800" b="0" i="1" smtClean="0">
                                <a:latin typeface="Cambria Math" panose="02040503050406030204" pitchFamily="18" charset="0"/>
                              </a:rPr>
                              <m:t>𝑑𝐵</m:t>
                            </m:r>
                          </m:num>
                          <m:den>
                            <m:r>
                              <a:rPr lang="es-ES" sz="1800" b="0" i="1" smtClean="0">
                                <a:latin typeface="Cambria Math" panose="02040503050406030204" pitchFamily="18" charset="0"/>
                              </a:rPr>
                              <m:t>90</m:t>
                            </m:r>
                            <m:r>
                              <a:rPr lang="es-ES" sz="1800" b="0" i="1" smtClean="0">
                                <a:latin typeface="Cambria Math" panose="02040503050406030204" pitchFamily="18" charset="0"/>
                                <a:ea typeface="Cambria Math" panose="02040503050406030204" pitchFamily="18" charset="0"/>
                              </a:rPr>
                              <m:t>°</m:t>
                            </m:r>
                          </m:den>
                        </m:f>
                      </m:e>
                    </m:d>
                    <m:r>
                      <a:rPr lang="es-ES" sz="1800" b="0" i="1" smtClean="0">
                        <a:latin typeface="Cambria Math" panose="02040503050406030204" pitchFamily="18" charset="0"/>
                      </a:rPr>
                      <m:t>=</m:t>
                    </m:r>
                  </m:oMath>
                </a14:m>
                <a:r>
                  <a:rPr lang="es-ES" sz="1800" dirty="0"/>
                  <a:t> </a:t>
                </a:r>
                <a14:m>
                  <m:oMath xmlns:m="http://schemas.openxmlformats.org/officeDocument/2006/math">
                    <m:r>
                      <m:rPr>
                        <m:sty m:val="p"/>
                      </m:rPr>
                      <a:rPr lang="es-ES" sz="1800" b="0" i="0" smtClean="0">
                        <a:latin typeface="Cambria Math" panose="02040503050406030204" pitchFamily="18" charset="0"/>
                      </a:rPr>
                      <m:t>R</m:t>
                    </m:r>
                    <m:f>
                      <m:fPr>
                        <m:ctrlPr>
                          <a:rPr lang="es-ES" sz="1800" b="0" i="1" smtClean="0">
                            <a:latin typeface="Cambria Math" panose="02040503050406030204" pitchFamily="18" charset="0"/>
                          </a:rPr>
                        </m:ctrlPr>
                      </m:fPr>
                      <m:num>
                        <m:r>
                          <a:rPr lang="es-ES" sz="1800" b="0" i="1" smtClean="0">
                            <a:latin typeface="Cambria Math" panose="02040503050406030204" pitchFamily="18" charset="0"/>
                          </a:rPr>
                          <m:t>𝜋</m:t>
                        </m:r>
                      </m:num>
                      <m:den>
                        <m:r>
                          <a:rPr lang="es-ES" sz="1800" b="0" i="1" smtClean="0">
                            <a:latin typeface="Cambria Math" panose="02040503050406030204" pitchFamily="18" charset="0"/>
                          </a:rPr>
                          <m:t>2</m:t>
                        </m:r>
                      </m:den>
                    </m:f>
                    <m:r>
                      <a:rPr lang="es-ES" sz="1800" i="1">
                        <a:latin typeface="Cambria Math" panose="02040503050406030204" pitchFamily="18" charset="0"/>
                      </a:rPr>
                      <m:t>𝛼</m:t>
                    </m:r>
                    <m:d>
                      <m:dPr>
                        <m:begChr m:val="["/>
                        <m:endChr m:val="]"/>
                        <m:ctrlPr>
                          <a:rPr lang="es-ES" sz="1800" i="1">
                            <a:latin typeface="Cambria Math" panose="02040503050406030204" pitchFamily="18" charset="0"/>
                          </a:rPr>
                        </m:ctrlPr>
                      </m:dPr>
                      <m:e>
                        <m:f>
                          <m:fPr>
                            <m:ctrlPr>
                              <a:rPr lang="es-ES" sz="1800" i="1">
                                <a:latin typeface="Cambria Math" panose="02040503050406030204" pitchFamily="18" charset="0"/>
                              </a:rPr>
                            </m:ctrlPr>
                          </m:fPr>
                          <m:num>
                            <m:r>
                              <a:rPr lang="es-ES" sz="1800" i="1">
                                <a:latin typeface="Cambria Math" panose="02040503050406030204" pitchFamily="18" charset="0"/>
                              </a:rPr>
                              <m:t>𝑑𝐵</m:t>
                            </m:r>
                          </m:num>
                          <m:den>
                            <m:r>
                              <a:rPr lang="es-ES" sz="1800" i="1">
                                <a:latin typeface="Cambria Math" panose="02040503050406030204" pitchFamily="18" charset="0"/>
                              </a:rPr>
                              <m:t>µ</m:t>
                            </m:r>
                            <m:r>
                              <a:rPr lang="es-ES" sz="1800" i="1">
                                <a:latin typeface="Cambria Math" panose="02040503050406030204" pitchFamily="18" charset="0"/>
                              </a:rPr>
                              <m:t>𝑚</m:t>
                            </m:r>
                          </m:den>
                        </m:f>
                      </m:e>
                    </m:d>
                  </m:oMath>
                </a14:m>
                <a:endParaRPr lang="en-US" sz="1800" dirty="0"/>
              </a:p>
            </p:txBody>
          </p:sp>
        </mc:Choice>
        <mc:Fallback xmlns="">
          <p:sp>
            <p:nvSpPr>
              <p:cNvPr id="6" name="CuadroTexto 5">
                <a:extLst>
                  <a:ext uri="{FF2B5EF4-FFF2-40B4-BE49-F238E27FC236}">
                    <a16:creationId xmlns:a16="http://schemas.microsoft.com/office/drawing/2014/main" id="{409FBBBB-69CA-B7E5-7176-8227F2788CF5}"/>
                  </a:ext>
                </a:extLst>
              </p:cNvPr>
              <p:cNvSpPr txBox="1">
                <a:spLocks noRot="1" noChangeAspect="1" noMove="1" noResize="1" noEditPoints="1" noAdjustHandles="1" noChangeArrowheads="1" noChangeShapeType="1" noTextEdit="1"/>
              </p:cNvSpPr>
              <p:nvPr/>
            </p:nvSpPr>
            <p:spPr>
              <a:xfrm>
                <a:off x="9941529" y="4179383"/>
                <a:ext cx="1856534" cy="439608"/>
              </a:xfrm>
              <a:prstGeom prst="rect">
                <a:avLst/>
              </a:prstGeom>
              <a:blipFill>
                <a:blip r:embed="rId5"/>
                <a:stretch>
                  <a:fillRect l="-3289" b="-13889"/>
                </a:stretch>
              </a:blipFill>
            </p:spPr>
            <p:txBody>
              <a:bodyPr/>
              <a:lstStyle/>
              <a:p>
                <a:r>
                  <a:rPr lang="es-ES">
                    <a:noFill/>
                  </a:rPr>
                  <a:t> </a:t>
                </a:r>
              </a:p>
            </p:txBody>
          </p:sp>
        </mc:Fallback>
      </mc:AlternateContent>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2978141" y="2784355"/>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losses [dB/90º] vs R and neff_TE0 vs R</a:t>
            </a:r>
          </a:p>
        </p:txBody>
      </p:sp>
      <p:pic>
        <p:nvPicPr>
          <p:cNvPr id="5" name="Picture 4">
            <a:extLst>
              <a:ext uri="{FF2B5EF4-FFF2-40B4-BE49-F238E27FC236}">
                <a16:creationId xmlns:a16="http://schemas.microsoft.com/office/drawing/2014/main" id="{89FF2CA7-5B4A-272A-2858-F0F92F70B8C5}"/>
              </a:ext>
            </a:extLst>
          </p:cNvPr>
          <p:cNvPicPr>
            <a:picLocks noChangeAspect="1"/>
          </p:cNvPicPr>
          <p:nvPr/>
        </p:nvPicPr>
        <p:blipFill>
          <a:blip r:embed="rId6"/>
          <a:stretch>
            <a:fillRect/>
          </a:stretch>
        </p:blipFill>
        <p:spPr>
          <a:xfrm>
            <a:off x="5562600" y="1498925"/>
            <a:ext cx="3916586" cy="3005138"/>
          </a:xfrm>
          <a:prstGeom prst="rect">
            <a:avLst/>
          </a:prstGeom>
        </p:spPr>
      </p:pic>
      <p:pic>
        <p:nvPicPr>
          <p:cNvPr id="10" name="Picture 9">
            <a:extLst>
              <a:ext uri="{FF2B5EF4-FFF2-40B4-BE49-F238E27FC236}">
                <a16:creationId xmlns:a16="http://schemas.microsoft.com/office/drawing/2014/main" id="{1C980ADB-D78D-3963-DC2F-027BEA80A9E2}"/>
              </a:ext>
            </a:extLst>
          </p:cNvPr>
          <p:cNvPicPr>
            <a:picLocks noChangeAspect="1"/>
          </p:cNvPicPr>
          <p:nvPr/>
        </p:nvPicPr>
        <p:blipFill>
          <a:blip r:embed="rId7"/>
          <a:stretch>
            <a:fillRect/>
          </a:stretch>
        </p:blipFill>
        <p:spPr>
          <a:xfrm>
            <a:off x="1851013" y="1602862"/>
            <a:ext cx="3711587" cy="2931896"/>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7</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925</TotalTime>
  <Words>940</Words>
  <Application>Microsoft Office PowerPoint</Application>
  <PresentationFormat>Widescreen</PresentationFormat>
  <Paragraphs>82</Paragraphs>
  <Slides>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Aptos</vt:lpstr>
      <vt:lpstr>Arial</vt:lpstr>
      <vt:lpstr>Calibri</vt:lpstr>
      <vt:lpstr>Cambria Math</vt:lpstr>
      <vt:lpstr>Lucida Sans</vt:lpstr>
      <vt:lpstr>Times New Roman</vt:lpstr>
      <vt:lpstr>Wingdings</vt:lpstr>
      <vt:lpstr>Office Theme</vt:lpstr>
      <vt:lpstr>PowerPoint Presentation</vt:lpstr>
      <vt:lpstr>Instructions General</vt:lpstr>
      <vt:lpstr>Learning outcome #1 – Convergence tests DE waveguide, w = 1.2 µm, neff_TE0, wvl 1.55 µm. </vt:lpstr>
      <vt:lpstr>Learning outcome #2 – Width dependence Width 0.6 - 1.6 µm (step 0.1 µm) – Wavelength 1.55 µm </vt:lpstr>
      <vt:lpstr>Learning outcome #3 – Waveguide compact model Let’s model the waveguide using a second order polynomial:  n_eff (λ)=n_1+n_2 (λ-λ_0 )+n_3 (λ-λ_0 )^2 </vt:lpstr>
      <vt:lpstr>Learning outcome #4 – Bend waveguide radius vs. loss – deep Find  neff_TE0 for wvl 1.55 µm, width 1.0 µm for R=25,50,75,100, 125,150 µm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David Garcia Santes</cp:lastModifiedBy>
  <cp:revision>12</cp:revision>
  <dcterms:created xsi:type="dcterms:W3CDTF">2025-01-27T02:46:57Z</dcterms:created>
  <dcterms:modified xsi:type="dcterms:W3CDTF">2026-03-08T18:57:45Z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